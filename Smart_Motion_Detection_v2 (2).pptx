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the Smart Motion Detection System — an IoT security device built on the ESP32 microcontroller, using a HC-SR501 PIR sensor and dual cloud backends (Blynk + ThingSpeak).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components are wired to the ESP32: PIR sensor on GPIO27, buzzer on GPIO26, LED on GPIO25.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key deliverables. Mention the GitHub repo and ThingSpeak channel as live proof. Thank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0D4AA">
              <a:alpha val="12000"/>
            </a:srgbClr>
          </a:solidFill>
          <a:ln w="12700">
            <a:solidFill>
              <a:srgbClr val="00D4AA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00D4AA">
              <a:alpha val="8000"/>
            </a:srgbClr>
          </a:solidFill>
          <a:ln w="12700">
            <a:solidFill>
              <a:srgbClr val="00D4AA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371600"/>
            <a:ext cx="8595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</a:t>
            </a:r>
            <a:pPr algn="ctr" indent="0" marL="0">
              <a:buNone/>
            </a:pPr>
            <a:r>
              <a:rPr lang="en-US" sz="54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</a:t>
            </a:r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74320" y="27889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Security Infrastructure Powered by ESP32 &amp; Cloud Analytics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8720" y="347472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13234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474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 Microcontroller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49040" y="347472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13234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3474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HC-SR501 PIR Sensor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347472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132340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34747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Blynk + ThingSpeak Cloud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4160520"/>
            <a:ext cx="201168" cy="20116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703320" y="41330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github.com/ThanhTu-Micop/PIR-motion-detection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Smart Motion Detection?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16916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Systems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743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alarms require manual activation and can't adapt to environment or report events remotely.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00400" y="146304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6916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Response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337560" y="2743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real-time cloud connectivity, intrusion alerts are delayed, reducing effectiveness and auditability.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146304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6916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35040" y="2286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Analytics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6172200" y="27432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sensors provide no historical data for pattern recognition, audit trails, or security analysis.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65760" y="4663440"/>
            <a:ext cx="8412480" cy="384048"/>
          </a:xfrm>
          <a:prstGeom prst="roundRect">
            <a:avLst>
              <a:gd name="adj" fmla="val 14286"/>
            </a:avLst>
          </a:prstGeom>
          <a:solidFill>
            <a:srgbClr val="00D4AA">
              <a:alpha val="15000"/>
            </a:srgbClr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Our Solution: An ESP32-based smart alarm system with cloud telemetry, mobile control &amp; analytics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00D4AA">
              <a:alpha val="7000"/>
            </a:srgbClr>
          </a:solidFill>
          <a:ln w="12700">
            <a:solidFill>
              <a:srgbClr val="00D4A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1828800"/>
            <a:ext cx="4572000" cy="4572000"/>
          </a:xfrm>
          <a:prstGeom prst="ellipse">
            <a:avLst/>
          </a:prstGeom>
          <a:solidFill>
            <a:srgbClr val="00D4AA">
              <a:alpha val="7000"/>
            </a:srgbClr>
          </a:solidFill>
          <a:ln w="12700">
            <a:solidFill>
              <a:srgbClr val="00D4A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459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21488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Engineering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474720" y="3063240"/>
            <a:ext cx="21945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Designing for Physical Stability and High-Fidelity Signal Processing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PERIPHERAL MAP &amp; PINOUT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solidFill>
            <a:srgbClr val="13234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7772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UNIT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606040" y="777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74720" y="777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PROTOCOL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49240" y="777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LOGIC ROLE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261872"/>
            <a:ext cx="8412480" cy="713232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10" name="Shape 8"/>
          <p:cNvSpPr/>
          <p:nvPr/>
        </p:nvSpPr>
        <p:spPr>
          <a:xfrm>
            <a:off x="365760" y="1975104"/>
            <a:ext cx="8412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61872"/>
            <a:ext cx="2194560" cy="7132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 Motion Sensor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06040" y="1261872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1261872"/>
            <a:ext cx="1828800" cy="7132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Input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49240" y="1261872"/>
            <a:ext cx="3840480" cy="7132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infrared heat signatures via Fresnel lens. Triggers interrupt on movement.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011680"/>
            <a:ext cx="8412480" cy="713232"/>
          </a:xfrm>
          <a:prstGeom prst="rect">
            <a:avLst/>
          </a:prstGeom>
          <a:solidFill>
            <a:srgbClr val="132340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2724912"/>
            <a:ext cx="841248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011680"/>
            <a:ext cx="2194560" cy="7132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Buzzer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06040" y="2011680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74720" y="2011680"/>
            <a:ext cx="1828800" cy="7132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Output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49240" y="2011680"/>
            <a:ext cx="3840480" cy="7132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Localized acoustic deterrent — Active High (85dB+) on intrusion detection.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761488"/>
            <a:ext cx="8412480" cy="713232"/>
          </a:xfrm>
          <a:prstGeom prst="rect">
            <a:avLst/>
          </a:prstGeom>
          <a:solidFill>
            <a:srgbClr val="0D1E35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2761488"/>
            <a:ext cx="2194560" cy="7132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Status LED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06040" y="2761488"/>
            <a:ext cx="822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474720" y="2761488"/>
            <a:ext cx="1828800" cy="7132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F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Output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49240" y="2761488"/>
            <a:ext cx="3840480" cy="713232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strobe synchronized with alarm state for instant local indication.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STABILITY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Interconnects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eliminate the 'messy wire' syndrome and ensure system longevity, the prototype was upgraded with permanent hardware fixes for production-grade reliability: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572000" cy="749808"/>
          </a:xfrm>
          <a:prstGeom prst="roundRect">
            <a:avLst>
              <a:gd name="adj" fmla="val 9756"/>
            </a:avLst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945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78992" y="20482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Female Header Sockets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78992" y="23591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ESP32 is mounted on soldered header blocks to prevent vibration-based signal dropouts and enable easy module swaps.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880360"/>
            <a:ext cx="4572000" cy="749808"/>
          </a:xfrm>
          <a:prstGeom prst="roundRect">
            <a:avLst>
              <a:gd name="adj" fmla="val 9756"/>
            </a:avLst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06324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78992" y="291693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Housing Connectors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078992" y="322783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sensor and actuator cables are grouped into polarized black housing plugs, preventing miswiring and simplifying maintenance.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749040"/>
            <a:ext cx="4572000" cy="749808"/>
          </a:xfrm>
          <a:prstGeom prst="roundRect">
            <a:avLst>
              <a:gd name="adj" fmla="val 9756"/>
            </a:avLst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31920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78992" y="378561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Ruggedized Wiring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078992" y="409651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Twisted cable pairs reduce electromagnetic interference on sensor lines, ensuring clean digital signal transmission.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760720" y="1188720"/>
            <a:ext cx="2743200" cy="3657600"/>
          </a:xfrm>
          <a:prstGeom prst="roundRect">
            <a:avLst>
              <a:gd name="adj" fmla="val 5000"/>
            </a:avLst>
          </a:prstGeom>
          <a:solidFill>
            <a:srgbClr val="132340"/>
          </a:solidFill>
          <a:ln w="19050">
            <a:solidFill>
              <a:srgbClr val="00D4AA"/>
            </a:solidFill>
            <a:prstDash val="solid"/>
          </a:ln>
          <a:effectLst>
            <a:outerShdw sx="100000" sy="100000" kx="0" ky="0" algn="bl" rotWithShape="0" blurRad="152400" dist="50800" dir="2700000">
              <a:srgbClr val="000000">
                <a:alpha val="3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5760720" y="1325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576072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Microcontroller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897880" y="2194560"/>
            <a:ext cx="2468880" cy="347472"/>
          </a:xfrm>
          <a:prstGeom prst="roundRect">
            <a:avLst>
              <a:gd name="adj" fmla="val 10526"/>
            </a:avLst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943600" y="219456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 27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6949440" y="21945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 Sensor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5897880" y="2606040"/>
            <a:ext cx="2468880" cy="347472"/>
          </a:xfrm>
          <a:prstGeom prst="roundRect">
            <a:avLst>
              <a:gd name="adj" fmla="val 10526"/>
            </a:avLst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943600" y="260604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 26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6949440" y="26060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Buzzer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897880" y="3017520"/>
            <a:ext cx="2468880" cy="347472"/>
          </a:xfrm>
          <a:prstGeom prst="roundRect">
            <a:avLst>
              <a:gd name="adj" fmla="val 10526"/>
            </a:avLst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5943600" y="301752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 25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6949440" y="30175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Strobe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5897880" y="3429000"/>
            <a:ext cx="2468880" cy="347472"/>
          </a:xfrm>
          <a:prstGeom prst="roundRect">
            <a:avLst>
              <a:gd name="adj" fmla="val 10526"/>
            </a:avLst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943600" y="34290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3V3/GND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6949440" y="34290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Rail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5897880" y="3840480"/>
            <a:ext cx="2468880" cy="347472"/>
          </a:xfrm>
          <a:prstGeom prst="roundRect">
            <a:avLst>
              <a:gd name="adj" fmla="val 10526"/>
            </a:avLst>
          </a:prstGeom>
          <a:solidFill>
            <a:srgbClr val="0D1E35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943600" y="384048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6949440" y="38404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Link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RESPONSE MATRIX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on-device alarm responses — no internet connection required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600200" y="1143000"/>
            <a:ext cx="2743200" cy="3749040"/>
          </a:xfrm>
          <a:prstGeom prst="roundRect">
            <a:avLst>
              <a:gd name="adj" fmla="val 4667"/>
            </a:avLst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14600" y="1325880"/>
            <a:ext cx="868680" cy="868680"/>
          </a:xfrm>
          <a:prstGeom prst="ellipse">
            <a:avLst/>
          </a:prstGeom>
          <a:solidFill>
            <a:srgbClr val="0D1E35"/>
          </a:solidFill>
          <a:ln w="19050">
            <a:solidFill>
              <a:srgbClr val="00D4A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0048" y="1481328"/>
            <a:ext cx="54864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468880" y="22860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00D4AA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2468880" y="2286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26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00200" y="26334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Deterrent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737360" y="30632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piezo buzzer generates 85dB+ alerts upon intrusion detection. Frequency modulated for maximum audibility.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600200" y="41148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85dB+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60020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Pressure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00600" y="1143000"/>
            <a:ext cx="2743200" cy="3749040"/>
          </a:xfrm>
          <a:prstGeom prst="roundRect">
            <a:avLst>
              <a:gd name="adj" fmla="val 4667"/>
            </a:avLst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715000" y="1325880"/>
            <a:ext cx="868680" cy="868680"/>
          </a:xfrm>
          <a:prstGeom prst="ellipse">
            <a:avLst/>
          </a:prstGeom>
          <a:solidFill>
            <a:srgbClr val="0D1E35"/>
          </a:solidFill>
          <a:ln w="19050">
            <a:solidFill>
              <a:srgbClr val="FFD70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0448" y="1481328"/>
            <a:ext cx="548640" cy="5486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669280" y="22860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FD700">
              <a:alpha val="20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5669280" y="2286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25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800600" y="263347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Strobe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4937760" y="30632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High-visibility LED strobe triggers instantly upon alarm state, providing clear visual warning to occupants.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800600" y="41148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D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&lt;10ms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4800600" y="4480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Time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0" y="-914400"/>
            <a:ext cx="6400800" cy="6400800"/>
          </a:xfrm>
          <a:prstGeom prst="ellipse">
            <a:avLst/>
          </a:prstGeom>
          <a:solidFill>
            <a:srgbClr val="00D4AA">
              <a:alpha val="7000"/>
            </a:srgbClr>
          </a:solidFill>
          <a:ln w="12700">
            <a:solidFill>
              <a:srgbClr val="00D4AA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16459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21488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&amp; Cloud Ecosystem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Merging Edge Computing with Cloud-Based Telemetry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DUAL-CLOUD INTEGRATION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ThingSpeak Channel ID: 3402569  ·  3 Data Fields: Detection Count, Hour, Minute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743200" cy="3840480"/>
          </a:xfrm>
          <a:prstGeom prst="roundRect">
            <a:avLst>
              <a:gd name="adj" fmla="val 4667"/>
            </a:avLst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1280160"/>
            <a:ext cx="914400" cy="914400"/>
          </a:xfrm>
          <a:prstGeom prst="ellipse">
            <a:avLst/>
          </a:prstGeom>
          <a:solidFill>
            <a:srgbClr val="0D1E35"/>
          </a:solidFill>
          <a:ln w="19050">
            <a:solidFill>
              <a:srgbClr val="00D4A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630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2860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Blynk IoT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74320" y="2670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Layer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31520" y="2980944"/>
            <a:ext cx="1828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30632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remote arm/disarm via Virtual Pin V0. Live gauge monitoring and push notifications to mobile.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452628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00D4AA">
              <a:alpha val="2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822960" y="4526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Control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182112" y="1097280"/>
            <a:ext cx="2743200" cy="3840480"/>
          </a:xfrm>
          <a:prstGeom prst="roundRect">
            <a:avLst>
              <a:gd name="adj" fmla="val 4667"/>
            </a:avLst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096512" y="1280160"/>
            <a:ext cx="914400" cy="914400"/>
          </a:xfrm>
          <a:prstGeom prst="ellipse">
            <a:avLst/>
          </a:prstGeom>
          <a:solidFill>
            <a:srgbClr val="0D1E35"/>
          </a:solidFill>
          <a:ln w="19050">
            <a:solidFill>
              <a:srgbClr val="6B9FF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392" y="146304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182112" y="22860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ThingSpeak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3182112" y="2670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Layer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3639312" y="2980944"/>
            <a:ext cx="1828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19272" y="30632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Time-series logging of all detection events. 3 fields: Detection Count, Hour, Minute for full audit trails.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3730752" y="452628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6B9FFF">
              <a:alpha val="20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3730752" y="4526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089904" y="1097280"/>
            <a:ext cx="2743200" cy="3840480"/>
          </a:xfrm>
          <a:prstGeom prst="roundRect">
            <a:avLst>
              <a:gd name="adj" fmla="val 4667"/>
            </a:avLst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004304" y="1280160"/>
            <a:ext cx="914400" cy="914400"/>
          </a:xfrm>
          <a:prstGeom prst="ellipse">
            <a:avLst/>
          </a:prstGeom>
          <a:solidFill>
            <a:srgbClr val="0D1E35"/>
          </a:solidFill>
          <a:ln w="19050">
            <a:solidFill>
              <a:srgbClr val="FFB347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1463040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089904" y="22860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NTP Sync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6089904" y="26700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Layer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6547104" y="2980944"/>
            <a:ext cx="182880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6227064" y="306324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clock synchronization via Network Time Protocol for precision event timestamping across platforms.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638544" y="452628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FFB347">
              <a:alpha val="2000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6638544" y="45262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Time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WORKFLOW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event lifecycle from detection to cloud logging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14400" y="2286000"/>
            <a:ext cx="7315200" cy="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2121408"/>
            <a:ext cx="329184" cy="329184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91440" y="260604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-91440" y="26517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301752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-91440" y="365760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-91440" y="400507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 Detection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8288" y="4297680"/>
            <a:ext cx="18379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HC-SR501 identifies IR shift. GPIO 27 pulled HIGH, triggering ESP32 hardware interrupt routine.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-45720" y="14630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Sensing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227832" y="2121408"/>
            <a:ext cx="329184" cy="329184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340864" y="260604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2340864" y="26517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672" y="3017520"/>
            <a:ext cx="548640" cy="54864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340864" y="365760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Reaction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2340864" y="400507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Alarm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450592" y="4297680"/>
            <a:ext cx="18379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Buzzer (Pin 26) activates at 85dB+. LED strobe (Pin 25) synchronizes with alarm state instantly.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386584" y="14630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Reaction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5660136" y="2121408"/>
            <a:ext cx="329184" cy="329184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773168" y="260604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4773168" y="26517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2976" y="3017520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73168" y="365760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500" dirty="0"/>
          </a:p>
        </p:txBody>
      </p:sp>
      <p:sp>
        <p:nvSpPr>
          <p:cNvPr id="27" name="Text 22"/>
          <p:cNvSpPr/>
          <p:nvPr/>
        </p:nvSpPr>
        <p:spPr>
          <a:xfrm>
            <a:off x="4773168" y="400507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Notify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4882896" y="4297680"/>
            <a:ext cx="18379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Blynk Virtual Pins updated. Push notification dispatched to mobile. Event logged with NTP timestamp.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4818888" y="14630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8092440" y="2121408"/>
            <a:ext cx="329184" cy="329184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7205472" y="2606040"/>
            <a:ext cx="2057400" cy="2331720"/>
          </a:xfrm>
          <a:prstGeom prst="roundRect">
            <a:avLst>
              <a:gd name="adj" fmla="val 5333"/>
            </a:avLst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sp>
        <p:nvSpPr>
          <p:cNvPr id="32" name="Text 27"/>
          <p:cNvSpPr/>
          <p:nvPr/>
        </p:nvSpPr>
        <p:spPr>
          <a:xfrm>
            <a:off x="7205472" y="265176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3017520"/>
            <a:ext cx="548640" cy="54864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205472" y="3657600"/>
            <a:ext cx="2057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</a:t>
            </a:r>
            <a:endParaRPr lang="en-US" sz="1500" dirty="0"/>
          </a:p>
        </p:txBody>
      </p:sp>
      <p:sp>
        <p:nvSpPr>
          <p:cNvPr id="35" name="Text 29"/>
          <p:cNvSpPr/>
          <p:nvPr/>
        </p:nvSpPr>
        <p:spPr>
          <a:xfrm>
            <a:off x="7205472" y="400507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7315200" y="4297680"/>
            <a:ext cx="18379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count, hour, and minute written to ThingSpeak channel 3402569 for long-term analytics.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7251192" y="146304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</a:t>
            </a:r>
            <a:endParaRPr lang="en-US" sz="1500" dirty="0"/>
          </a:p>
        </p:txBody>
      </p:sp>
      <p:sp>
        <p:nvSpPr>
          <p:cNvPr id="38" name="Text 3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github.com/ThanhTu-Micop/PIR-motion-detection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1828800"/>
            <a:ext cx="5486400" cy="5486400"/>
          </a:xfrm>
          <a:prstGeom prst="ellipse">
            <a:avLst/>
          </a:prstGeom>
          <a:solidFill>
            <a:srgbClr val="00D4AA">
              <a:alpha val="7000"/>
            </a:srgbClr>
          </a:solidFill>
          <a:ln w="12700">
            <a:solidFill>
              <a:srgbClr val="00D4A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28600"/>
            <a:ext cx="9144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ACHIEVEMENTS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0" y="658368"/>
            <a:ext cx="9144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&amp; Learned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92024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9047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1005840" y="2011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GPIO Peripherals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30352" y="26060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· Buzzer · LED · Button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46120" y="141732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9202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49047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0"/>
          <p:cNvSpPr/>
          <p:nvPr/>
        </p:nvSpPr>
        <p:spPr>
          <a:xfrm>
            <a:off x="3886200" y="2011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Platforms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10712" y="26060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Blynk IoT + ThingSpeak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26480" y="141732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92024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66560" y="149047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4"/>
          <p:cNvSpPr/>
          <p:nvPr/>
        </p:nvSpPr>
        <p:spPr>
          <a:xfrm>
            <a:off x="6766560" y="201168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ThingSpeak Fields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91072" y="26060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· Hour · Minute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65760" y="31089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61188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318211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&lt;1s</a:t>
            </a:r>
            <a:endParaRPr lang="en-US" sz="3200" dirty="0"/>
          </a:p>
        </p:txBody>
      </p:sp>
      <p:sp>
        <p:nvSpPr>
          <p:cNvPr id="24" name="Text 18"/>
          <p:cNvSpPr/>
          <p:nvPr/>
        </p:nvSpPr>
        <p:spPr>
          <a:xfrm>
            <a:off x="1005840" y="37033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Detection-to-Alert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30352" y="42976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event cycle time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46120" y="3108960"/>
            <a:ext cx="2651760" cy="1508760"/>
          </a:xfrm>
          <a:prstGeom prst="roundRect">
            <a:avLst>
              <a:gd name="adj" fmla="val 7273"/>
            </a:avLst>
          </a:prstGeom>
          <a:solidFill>
            <a:srgbClr val="132340"/>
          </a:solidFill>
          <a:ln/>
          <a:effectLst>
            <a:outerShdw sx="100000" sy="100000" kx="0" ky="0" algn="bl" rotWithShape="0" blurRad="101600" dist="38100" dir="2700000">
              <a:srgbClr val="000000">
                <a:alpha val="25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361188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86200" y="3182112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29" name="Text 22"/>
          <p:cNvSpPr/>
          <p:nvPr/>
        </p:nvSpPr>
        <p:spPr>
          <a:xfrm>
            <a:off x="3886200" y="370332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Capable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410712" y="42976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alarm without cloud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Motion Detection System</dc:title>
  <dc:subject>PptxGenJS Presentation</dc:subject>
  <dc:creator>ThanhTu-Micop</dc:creator>
  <cp:lastModifiedBy>ThanhTu-Micop</cp:lastModifiedBy>
  <cp:revision>1</cp:revision>
  <dcterms:created xsi:type="dcterms:W3CDTF">2026-06-22T07:47:30Z</dcterms:created>
  <dcterms:modified xsi:type="dcterms:W3CDTF">2026-06-22T07:47:30Z</dcterms:modified>
</cp:coreProperties>
</file>